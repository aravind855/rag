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/>
              <a:t>NexaCore Business Continuity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51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/>
              <a:t>Version 2.3 | Effective 01 August 2026 | Operations &amp;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Continuity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Protect people first, then preserve critical customer and business services.</a:t>
            </a:r>
          </a:p>
          <a:p>
            <a:pPr>
              <a:spcAft>
                <a:spcPts val="1200"/>
              </a:spcAft>
              <a:defRPr sz="1700"/>
            </a:pPr>
            <a:r>
              <a:t>Maintain defined recovery targets for Tier-1 and Tier-2 capabilities.</a:t>
            </a:r>
          </a:p>
          <a:p>
            <a:pPr>
              <a:spcAft>
                <a:spcPts val="1200"/>
              </a:spcAft>
              <a:defRPr sz="1700"/>
            </a:pPr>
            <a:r>
              <a:t>Reduce dependency on single facilities, suppliers and technical components.</a:t>
            </a:r>
          </a:p>
          <a:p>
            <a:pPr>
              <a:spcAft>
                <a:spcPts val="1200"/>
              </a:spcAft>
              <a:defRPr sz="1700"/>
            </a:pPr>
            <a:r>
              <a:t>Use documented recovery procedures and exercise them regularly.</a:t>
            </a:r>
          </a:p>
          <a:p>
            <a:pPr>
              <a:spcAft>
                <a:spcPts val="1200"/>
              </a:spcAft>
              <a:defRPr sz="1700"/>
            </a:pPr>
            <a:r>
              <a:t>Communicate confirmed impact and recovery expectations through incident management.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Business Continuity | 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Continuity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22860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/>
              <a:t>Primary Region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2011680"/>
            <a:ext cx="22860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/>
              <a:t>Secondary Recovery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2011680"/>
            <a:ext cx="22860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/>
              <a:t>People /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840480"/>
            <a:ext cx="22860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/>
              <a:t>Critical Suppliers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0400" y="2267712"/>
            <a:ext cx="1371600" cy="2286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6858000" y="2267712"/>
            <a:ext cx="1371600" cy="2286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5486400" y="2834640"/>
            <a:ext cx="228600" cy="914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Criticality and Recovery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Tier-1 services: RTO 60 minutes, RPO 15 minutes.</a:t>
            </a:r>
          </a:p>
          <a:p>
            <a:pPr>
              <a:spcAft>
                <a:spcPts val="1200"/>
              </a:spcAft>
              <a:defRPr sz="1700"/>
            </a:pPr>
            <a:r>
              <a:t>Tier-2 services: RTO 4 hours, RPO 1 hour.</a:t>
            </a:r>
          </a:p>
          <a:p>
            <a:pPr>
              <a:spcAft>
                <a:spcPts val="1200"/>
              </a:spcAft>
              <a:defRPr sz="1700"/>
            </a:pPr>
            <a:r>
              <a:t>Internal low-criticality tools: best-effort recovery unless service-specific target exists.</a:t>
            </a:r>
          </a:p>
          <a:p>
            <a:pPr>
              <a:spcAft>
                <a:spcPts val="1200"/>
              </a:spcAft>
              <a:defRPr sz="1700"/>
            </a:pPr>
            <a:r>
              <a:t>Recovery targets are validated against architecture, backup capability and supplier dependencies.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Business Continuity | Internal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Business Impact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Priority 1: customer-facing services, security controls and revenue-critical transaction paths.</a:t>
            </a:r>
          </a:p>
          <a:p>
            <a:pPr>
              <a:spcAft>
                <a:spcPts val="1200"/>
              </a:spcAft>
              <a:defRPr sz="1700"/>
            </a:pPr>
            <a:r>
              <a:t>Priority 2: workforce identity, communications, finance operations and key internal workflows.</a:t>
            </a:r>
          </a:p>
          <a:p>
            <a:pPr>
              <a:spcAft>
                <a:spcPts val="1200"/>
              </a:spcAft>
              <a:defRPr sz="1700"/>
            </a:pPr>
            <a:r>
              <a:t>Priority 3: non-critical analytics, development tools and convenience services.</a:t>
            </a:r>
          </a:p>
          <a:p>
            <a:pPr>
              <a:spcAft>
                <a:spcPts val="1200"/>
              </a:spcAft>
              <a:defRPr sz="1700"/>
            </a:pPr>
            <a:r>
              <a:t>Business owners review criticality at least annually or after major service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Business Continuity | 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People and Workplace Continuity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Critical functions maintain named primary and secondary owners.</a:t>
            </a:r>
          </a:p>
          <a:p>
            <a:pPr>
              <a:spcAft>
                <a:spcPts val="1200"/>
              </a:spcAft>
              <a:defRPr sz="1700"/>
            </a:pPr>
            <a:r>
              <a:t>Remote-work capability is included in continuity planning for suitable roles.</a:t>
            </a:r>
          </a:p>
          <a:p>
            <a:pPr>
              <a:spcAft>
                <a:spcPts val="1200"/>
              </a:spcAft>
              <a:defRPr sz="1700"/>
            </a:pPr>
            <a:r>
              <a:t>Emergency contact trees are reviewed quarterly.</a:t>
            </a:r>
          </a:p>
          <a:p>
            <a:pPr>
              <a:spcAft>
                <a:spcPts val="1200"/>
              </a:spcAft>
              <a:defRPr sz="1700"/>
            </a:pPr>
            <a:r>
              <a:t>Critical teams maintain minimum staffing plans for 24-hour disruption scenarios.</a:t>
            </a:r>
          </a:p>
          <a:p>
            <a:pPr>
              <a:spcAft>
                <a:spcPts val="1200"/>
              </a:spcAft>
              <a:defRPr sz="1700"/>
            </a:pPr>
            <a:r>
              <a:t>Site disruption plans identify alternate work locations or remote operating procedures.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Business Continuity | Internal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Technology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Backups for Tier-1 systems follow service-specific RPO requirements.</a:t>
            </a:r>
          </a:p>
          <a:p>
            <a:pPr>
              <a:spcAft>
                <a:spcPts val="1200"/>
              </a:spcAft>
              <a:defRPr sz="1700"/>
            </a:pPr>
            <a:r>
              <a:t>Restore procedures are tested quarterly for selected Tier-1 workloads.</a:t>
            </a:r>
          </a:p>
          <a:p>
            <a:pPr>
              <a:spcAft>
                <a:spcPts val="1200"/>
              </a:spcAft>
              <a:defRPr sz="1700"/>
            </a:pPr>
            <a:r>
              <a:t>Recovery environments are access-controlled and monitored.</a:t>
            </a:r>
          </a:p>
          <a:p>
            <a:pPr>
              <a:spcAft>
                <a:spcPts val="1200"/>
              </a:spcAft>
              <a:defRPr sz="1700"/>
            </a:pPr>
            <a:r>
              <a:t>Critical dependencies are documented in the system catalog.</a:t>
            </a:r>
          </a:p>
          <a:p>
            <a:pPr>
              <a:spcAft>
                <a:spcPts val="1200"/>
              </a:spcAft>
              <a:defRPr sz="1700"/>
            </a:pPr>
            <a:r>
              <a:t>Post-recovery validation includes data integrity, authentication, monitoring and customer transaction checks.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Business Continuity | 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Supplier Continuity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Critical suppliers require continuity evidence and an exit/alternative plan.</a:t>
            </a:r>
          </a:p>
          <a:p>
            <a:pPr>
              <a:spcAft>
                <a:spcPts val="1200"/>
              </a:spcAft>
              <a:defRPr sz="1700"/>
            </a:pPr>
            <a:r>
              <a:t>Single-source dependencies are tracked as continuity risks.</a:t>
            </a:r>
          </a:p>
          <a:p>
            <a:pPr>
              <a:spcAft>
                <a:spcPts val="1200"/>
              </a:spcAft>
              <a:defRPr sz="1700"/>
            </a:pPr>
            <a:r>
              <a:t>Supplier critical incidents are escalated through the vendor management process.</a:t>
            </a:r>
          </a:p>
          <a:p>
            <a:pPr>
              <a:spcAft>
                <a:spcPts val="1200"/>
              </a:spcAft>
              <a:defRPr sz="1700"/>
            </a:pPr>
            <a:r>
              <a:t>Material supplier changes require business-owner review before acceptance.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Business Continuity | Internal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Exercise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Quarterly tabletop exercise: one critical business scenario.</a:t>
            </a:r>
          </a:p>
          <a:p>
            <a:pPr>
              <a:spcAft>
                <a:spcPts val="1200"/>
              </a:spcAft>
              <a:defRPr sz="1700"/>
            </a:pPr>
            <a:r>
              <a:t>Semiannual technical recovery test: selected system restore/failover.</a:t>
            </a:r>
          </a:p>
          <a:p>
            <a:pPr>
              <a:spcAft>
                <a:spcPts val="1200"/>
              </a:spcAft>
              <a:defRPr sz="1700"/>
            </a:pPr>
            <a:r>
              <a:t>Annual enterprise continuity exercise: cross-functional scenario.</a:t>
            </a:r>
          </a:p>
          <a:p>
            <a:pPr>
              <a:spcAft>
                <a:spcPts val="1200"/>
              </a:spcAft>
              <a:defRPr sz="1700"/>
            </a:pPr>
            <a:r>
              <a:t>Exercise findings receive owners and target dates.</a:t>
            </a:r>
          </a:p>
          <a:p>
            <a:pPr>
              <a:spcAft>
                <a:spcPts val="1200"/>
              </a:spcAft>
              <a:defRPr sz="1700"/>
            </a:pPr>
            <a:r>
              <a:t>FY26: 17 continuity exercises completed; 94% of corrective actions closed within target.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Business Continuity | Internal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Scenario Playbooks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Cloud region disruption: assess health, declare continuity mode, shift eligible workloads and validate critical paths.</a:t>
            </a:r>
          </a:p>
          <a:p>
            <a:pPr>
              <a:spcAft>
                <a:spcPts val="1200"/>
              </a:spcAft>
              <a:defRPr sz="1700"/>
            </a:pPr>
            <a:r>
              <a:t>Identity-provider outage: activate approved emergency access process and prioritize critical operational users.</a:t>
            </a:r>
          </a:p>
          <a:p>
            <a:pPr>
              <a:spcAft>
                <a:spcPts val="1200"/>
              </a:spcAft>
              <a:defRPr sz="1700"/>
            </a:pPr>
            <a:r>
              <a:t>Office/site outage: move affected teams to remote/alternate operating model.</a:t>
            </a:r>
          </a:p>
          <a:p>
            <a:pPr>
              <a:spcAft>
                <a:spcPts val="1200"/>
              </a:spcAft>
              <a:defRPr sz="1700"/>
            </a:pPr>
            <a:r>
              <a:t>Critical supplier failure: activate alternate supplier or manual workaround and notify business owner.</a:t>
            </a:r>
          </a:p>
          <a:p>
            <a:pPr>
              <a:spcAft>
                <a:spcPts val="1200"/>
              </a:spcAft>
              <a:defRPr sz="1700"/>
            </a:pPr>
            <a:r>
              <a:t>Cyber incident: follow Security Incident Response Runbook before restoration.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Business Continuity | Internal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FY26 Continuity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Tier-1 services with documented recovery plans: 100%.</a:t>
            </a:r>
          </a:p>
          <a:p>
            <a:pPr>
              <a:spcAft>
                <a:spcPts val="1200"/>
              </a:spcAft>
              <a:defRPr sz="1700"/>
            </a:pPr>
            <a:r>
              <a:t>Tier-1 restore tests completed: 96%.</a:t>
            </a:r>
          </a:p>
          <a:p>
            <a:pPr>
              <a:spcAft>
                <a:spcPts val="1200"/>
              </a:spcAft>
              <a:defRPr sz="1700"/>
            </a:pPr>
            <a:r>
              <a:t>Critical business functions with alternate owner: 98.2%.</a:t>
            </a:r>
          </a:p>
          <a:p>
            <a:pPr>
              <a:spcAft>
                <a:spcPts val="1200"/>
              </a:spcAft>
              <a:defRPr sz="1700"/>
            </a:pPr>
            <a:r>
              <a:t>Critical supplier exit plans tested: 14.</a:t>
            </a:r>
          </a:p>
          <a:p>
            <a:pPr>
              <a:spcAft>
                <a:spcPts val="1200"/>
              </a:spcAft>
              <a:defRPr sz="1700"/>
            </a:pPr>
            <a:r>
              <a:t>Average Tier-1 recovery exercise duration: 47 minutes.</a:t>
            </a:r>
          </a:p>
          <a:p>
            <a:pPr>
              <a:spcAft>
                <a:spcPts val="1200"/>
              </a:spcAft>
              <a:defRPr sz="1700"/>
            </a:pPr>
            <a:r>
              <a:t>Open high-priority continuity actions at 31 July 2026: 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Business Continuity | Internal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Governance and Document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Owner: Operations &amp; Risk.</a:t>
            </a:r>
          </a:p>
          <a:p>
            <a:pPr>
              <a:spcAft>
                <a:spcPts val="1200"/>
              </a:spcAft>
              <a:defRPr sz="1700"/>
            </a:pPr>
            <a:r>
              <a:t>Version: 2.3.</a:t>
            </a:r>
          </a:p>
          <a:p>
            <a:pPr>
              <a:spcAft>
                <a:spcPts val="1200"/>
              </a:spcAft>
              <a:defRPr sz="1700"/>
            </a:pPr>
            <a:r>
              <a:t>Effective: 01 August 2026.</a:t>
            </a:r>
          </a:p>
          <a:p>
            <a:pPr>
              <a:spcAft>
                <a:spcPts val="1200"/>
              </a:spcAft>
              <a:defRPr sz="1700"/>
            </a:pPr>
            <a:r>
              <a:t>Next review: 31 July 2027.</a:t>
            </a:r>
          </a:p>
          <a:p>
            <a:pPr>
              <a:spcAft>
                <a:spcPts val="1200"/>
              </a:spcAft>
              <a:defRPr sz="1700"/>
            </a:pPr>
            <a:r>
              <a:t>Continuity plans are reviewed after major incidents, material architecture changes and significant supplier changes.</a:t>
            </a:r>
          </a:p>
          <a:p>
            <a:pPr>
              <a:spcAft>
                <a:spcPts val="1200"/>
              </a:spcAft>
              <a:defRPr sz="1700"/>
            </a:pPr>
            <a:r>
              <a:t>Classification: Internal /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Business Continuity | 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