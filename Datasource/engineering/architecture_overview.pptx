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/>
              <a:t>NexaCore Engineering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889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Platform topology, service boundaries, data flows and reliability model</a:t>
            </a:r>
          </a:p>
          <a:p>
            <a:r>
              <a:t>Version 2.6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Web and mobile clients → API Gateway → domain services → data and integration layers.</a:t>
            </a:r>
          </a:p>
          <a:p>
            <a:pPr>
              <a:spcAft>
                <a:spcPts val="1200"/>
              </a:spcAft>
              <a:defRPr sz="1700"/>
            </a:pPr>
            <a:r>
              <a:t>42 production services are grouped into Tier-1, Tier-2 and internal utility classifications.</a:t>
            </a:r>
          </a:p>
          <a:p>
            <a:pPr>
              <a:spcAft>
                <a:spcPts val="1200"/>
              </a:spcAft>
              <a:defRPr sz="1700"/>
            </a:pPr>
            <a:r>
              <a:t>Primary synchronous transport: HTTPS/REST; asynchronous workloads use the event bus.</a:t>
            </a:r>
          </a:p>
          <a:p>
            <a:pPr>
              <a:spcAft>
                <a:spcPts val="1200"/>
              </a:spcAft>
              <a:defRPr sz="1700"/>
            </a:pPr>
            <a:r>
              <a:t>Observability is centralized across logs, metrics, traces and audit events.</a:t>
            </a:r>
          </a:p>
          <a:p>
            <a:pPr>
              <a:spcAft>
                <a:spcPts val="1200"/>
              </a:spcAft>
              <a:defRPr sz="1700"/>
            </a:pPr>
            <a:r>
              <a:t>Production runs across two availability zones in the primary region with a secondary recovery region.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Logical Service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688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Clients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4688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API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4688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Domain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Data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3832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Event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4688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External Systems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40" y="2724912"/>
            <a:ext cx="365759" cy="21945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4389120" y="2724912"/>
            <a:ext cx="457200" cy="21945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ight Arrow 10"/>
          <p:cNvSpPr/>
          <p:nvPr/>
        </p:nvSpPr>
        <p:spPr>
          <a:xfrm>
            <a:off x="6492240" y="1993391"/>
            <a:ext cx="822960" cy="21945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 Arrow 11"/>
          <p:cNvSpPr/>
          <p:nvPr/>
        </p:nvSpPr>
        <p:spPr>
          <a:xfrm>
            <a:off x="6492240" y="3639311"/>
            <a:ext cx="822960" cy="21945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8961120" y="2724912"/>
            <a:ext cx="640079" cy="21945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Gateway responsibilities: authentication handoff, request correlation, rate limiting and routing. Domain services own business rules; the data layer owns persistence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Service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Tier-1: 11 services supporting customer, revenue or security-critical workflows.</a:t>
            </a:r>
          </a:p>
          <a:p>
            <a:pPr>
              <a:spcAft>
                <a:spcPts val="1200"/>
              </a:spcAft>
              <a:defRPr sz="1700"/>
            </a:pPr>
            <a:r>
              <a:t>Tier-2: 23 services supporting important internal or customer-adjacent capabilities.</a:t>
            </a:r>
          </a:p>
          <a:p>
            <a:pPr>
              <a:spcAft>
                <a:spcPts val="1200"/>
              </a:spcAft>
              <a:defRPr sz="1700"/>
            </a:pPr>
            <a:r>
              <a:t>Utility/internal: 8 services with lower business criticality and best-effort availability.</a:t>
            </a:r>
          </a:p>
          <a:p>
            <a:pPr>
              <a:spcAft>
                <a:spcPts val="1200"/>
              </a:spcAft>
              <a:defRPr sz="1700"/>
            </a:pPr>
            <a:r>
              <a:t>Each production service must have an owner, repository, runbook, SLO and escalation path.</a:t>
            </a:r>
          </a:p>
          <a:p>
            <a:pPr>
              <a:spcAft>
                <a:spcPts val="1200"/>
              </a:spcAft>
              <a:defRPr sz="1700"/>
            </a:pPr>
            <a:r>
              <a:t>Service ownership is reviewed quarterly; orphaned services are not permitted to remain in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Transactional workloads use relational storage where consistency and referential integrity are primary requirements.</a:t>
            </a:r>
          </a:p>
          <a:p>
            <a:pPr>
              <a:spcAft>
                <a:spcPts val="1200"/>
              </a:spcAft>
              <a:defRPr sz="1700"/>
            </a:pPr>
            <a:r>
              <a:t>Document-oriented storage is used for flexible metadata and selected workflow records.</a:t>
            </a:r>
          </a:p>
          <a:p>
            <a:pPr>
              <a:spcAft>
                <a:spcPts val="1200"/>
              </a:spcAft>
              <a:defRPr sz="1700"/>
            </a:pPr>
            <a:r>
              <a:t>Object storage contains large immutable artifacts; database rows retain metadata and references.</a:t>
            </a:r>
          </a:p>
          <a:p>
            <a:pPr>
              <a:spcAft>
                <a:spcPts val="1200"/>
              </a:spcAft>
              <a:defRPr sz="1700"/>
            </a:pPr>
            <a:r>
              <a:t>Analytics workloads consume curated datasets rather than directly querying operational databases.</a:t>
            </a:r>
          </a:p>
          <a:p>
            <a:pPr>
              <a:spcAft>
                <a:spcPts val="1200"/>
              </a:spcAft>
              <a:defRPr sz="1700"/>
            </a:pPr>
            <a:r>
              <a:t>Sensitive data is classified and access-controlled at the application and storage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Event-Driven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Asynchronous workflows use domain events to decouple producers from consumers.</a:t>
            </a:r>
          </a:p>
          <a:p>
            <a:pPr>
              <a:spcAft>
                <a:spcPts val="1200"/>
              </a:spcAft>
              <a:defRPr sz="1700"/>
            </a:pPr>
            <a:r>
              <a:t>Events contain event_id, event_type, occurred_at, producer, schema_version and payload.</a:t>
            </a:r>
          </a:p>
          <a:p>
            <a:pPr>
              <a:spcAft>
                <a:spcPts val="1200"/>
              </a:spcAft>
              <a:defRPr sz="1700"/>
            </a:pPr>
            <a:r>
              <a:t>Consumers must be idempotent because delivery may be retried.</a:t>
            </a:r>
          </a:p>
          <a:p>
            <a:pPr>
              <a:spcAft>
                <a:spcPts val="1200"/>
              </a:spcAft>
              <a:defRPr sz="1700"/>
            </a:pPr>
            <a:r>
              <a:t>Dead-letter queues are monitored and reviewed at least daily for Tier-1 event streams.</a:t>
            </a:r>
          </a:p>
          <a:p>
            <a:pPr>
              <a:spcAft>
                <a:spcPts val="1200"/>
              </a:spcAft>
              <a:defRPr sz="1700"/>
            </a:pPr>
            <a:r>
              <a:t>Schema changes must preserve consumer compatibility or use a new event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API and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External integrations terminate through approved integration services rather than allowing arbitrary outbound calls from domain services.</a:t>
            </a:r>
          </a:p>
          <a:p>
            <a:pPr>
              <a:spcAft>
                <a:spcPts val="1200"/>
              </a:spcAft>
              <a:defRPr sz="1700"/>
            </a:pPr>
            <a:r>
              <a:t>Outbound calls use timeouts, retry policies and circuit-breaking where appropriate.</a:t>
            </a:r>
          </a:p>
          <a:p>
            <a:pPr>
              <a:spcAft>
                <a:spcPts val="1200"/>
              </a:spcAft>
              <a:defRPr sz="1700"/>
            </a:pPr>
            <a:r>
              <a:t>Default retry policy: maximum 3 attempts with exponential backoff for retry-safe operations.</a:t>
            </a:r>
          </a:p>
          <a:p>
            <a:pPr>
              <a:spcAft>
                <a:spcPts val="1200"/>
              </a:spcAft>
              <a:defRPr sz="1700"/>
            </a:pPr>
            <a:r>
              <a:t>Authentication secrets are stored in managed secret storage; credentials are never embedded in code.</a:t>
            </a:r>
          </a:p>
          <a:p>
            <a:pPr>
              <a:spcAft>
                <a:spcPts val="1200"/>
              </a:spcAft>
              <a:defRPr sz="1700"/>
            </a:pPr>
            <a:r>
              <a:t>Partner integrations must document rate limits, failure behavior and support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Availability and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Tier-1 reference target: 99.9% monthly availability.</a:t>
            </a:r>
          </a:p>
          <a:p>
            <a:pPr>
              <a:spcAft>
                <a:spcPts val="1200"/>
              </a:spcAft>
              <a:defRPr sz="1700"/>
            </a:pPr>
            <a:r>
              <a:t>Tier-1 recovery target: RTO 60 minutes; RPO 15 minutes.</a:t>
            </a:r>
          </a:p>
          <a:p>
            <a:pPr>
              <a:spcAft>
                <a:spcPts val="1200"/>
              </a:spcAft>
              <a:defRPr sz="1700"/>
            </a:pPr>
            <a:r>
              <a:t>Production workloads use zone-aware deployment for supported services.</a:t>
            </a:r>
          </a:p>
          <a:p>
            <a:pPr>
              <a:spcAft>
                <a:spcPts val="1200"/>
              </a:spcAft>
              <a:defRPr sz="1700"/>
            </a:pPr>
            <a:r>
              <a:t>Critical dependencies must have documented degradation behavior.</a:t>
            </a:r>
          </a:p>
          <a:p>
            <a:pPr>
              <a:spcAft>
                <a:spcPts val="1200"/>
              </a:spcAft>
              <a:defRPr sz="1700"/>
            </a:pPr>
            <a:r>
              <a:t>Quarterly recovery exercises validate selected backup, restore and failover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Observability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Structured logs include timestamp, service, environment, severity and correlation/request ID.</a:t>
            </a:r>
          </a:p>
          <a:p>
            <a:pPr>
              <a:spcAft>
                <a:spcPts val="1200"/>
              </a:spcAft>
              <a:defRPr sz="1700"/>
            </a:pPr>
            <a:r>
              <a:t>Metrics cover traffic, errors, latency and saturation.</a:t>
            </a:r>
          </a:p>
          <a:p>
            <a:pPr>
              <a:spcAft>
                <a:spcPts val="1200"/>
              </a:spcAft>
              <a:defRPr sz="1700"/>
            </a:pPr>
            <a:r>
              <a:t>Distributed traces connect gateway requests to downstream service calls where instrumentation is available.</a:t>
            </a:r>
          </a:p>
          <a:p>
            <a:pPr>
              <a:spcAft>
                <a:spcPts val="1200"/>
              </a:spcAft>
              <a:defRPr sz="1700"/>
            </a:pPr>
            <a:r>
              <a:t>Audit events are retained separately from application debug logs.</a:t>
            </a:r>
          </a:p>
          <a:p>
            <a:pPr>
              <a:spcAft>
                <a:spcPts val="1200"/>
              </a:spcAft>
              <a:defRPr sz="1700"/>
            </a:pPr>
            <a:r>
              <a:t>Alerting is tied to customer impact and SLO risk rather than every low-level exception.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Security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Identity is centralized; services validate authorization for their owned resources.</a:t>
            </a:r>
          </a:p>
          <a:p>
            <a:pPr>
              <a:spcAft>
                <a:spcPts val="1200"/>
              </a:spcAft>
              <a:defRPr sz="1700"/>
            </a:pPr>
            <a:r>
              <a:t>Production administrative access is privileged, logged and reviewed.</a:t>
            </a:r>
          </a:p>
          <a:p>
            <a:pPr>
              <a:spcAft>
                <a:spcPts val="1200"/>
              </a:spcAft>
              <a:defRPr sz="1700"/>
            </a:pPr>
            <a:r>
              <a:t>Network segmentation separates public ingress, application workloads, data services and management paths.</a:t>
            </a:r>
          </a:p>
          <a:p>
            <a:pPr>
              <a:spcAft>
                <a:spcPts val="1200"/>
              </a:spcAft>
              <a:defRPr sz="1700"/>
            </a:pPr>
            <a:r>
              <a:t>Secrets are retrieved at runtime from approved secret-management infrastructure.</a:t>
            </a:r>
          </a:p>
          <a:p>
            <a:pPr>
              <a:spcAft>
                <a:spcPts val="1200"/>
              </a:spcAft>
              <a:defRPr sz="1700"/>
            </a:pPr>
            <a:r>
              <a:t>Restricted data must not be copied into development environments without approved masking or synthetic replacement.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CI produces a versioned artifact tied to a source commit.</a:t>
            </a:r>
          </a:p>
          <a:p>
            <a:pPr>
              <a:spcAft>
                <a:spcPts val="1200"/>
              </a:spcAft>
              <a:defRPr sz="1700"/>
            </a:pPr>
            <a:r>
              <a:t>Staging is the final production-like validation environment.</a:t>
            </a:r>
          </a:p>
          <a:p>
            <a:pPr>
              <a:spcAft>
                <a:spcPts val="1200"/>
              </a:spcAft>
              <a:defRPr sz="1700"/>
            </a:pPr>
            <a:r>
              <a:t>Production rollout uses controlled promotion, with canary or phased deployment for Tier-1 services where supported.</a:t>
            </a:r>
          </a:p>
          <a:p>
            <a:pPr>
              <a:spcAft>
                <a:spcPts val="1200"/>
              </a:spcAft>
              <a:defRPr sz="1700"/>
            </a:pPr>
            <a:r>
              <a:t>Rollback is preferred when the previous artifact is safe and compatible; irreversible migrations require forward-fix planning.</a:t>
            </a:r>
          </a:p>
          <a:p>
            <a:pPr>
              <a:spcAft>
                <a:spcPts val="1200"/>
              </a:spcAft>
              <a:defRPr sz="1700"/>
            </a:pPr>
            <a:r>
              <a:t>Post-deployment smoke tests verify critical paths before the release is considered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Architecture 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Prefer boring, observable technology over novelty when business requirements are equivalent.</a:t>
            </a:r>
          </a:p>
          <a:p>
            <a:pPr>
              <a:spcAft>
                <a:spcPts val="1200"/>
              </a:spcAft>
              <a:defRPr sz="1700"/>
            </a:pPr>
            <a:r>
              <a:t>A new service requires a clear ownership boundary and justification for operational overhead.</a:t>
            </a:r>
          </a:p>
          <a:p>
            <a:pPr>
              <a:spcAft>
                <a:spcPts val="1200"/>
              </a:spcAft>
              <a:defRPr sz="1700"/>
            </a:pPr>
            <a:r>
              <a:t>Shared databases between independent services require architecture review.</a:t>
            </a:r>
          </a:p>
          <a:p>
            <a:pPr>
              <a:spcAft>
                <a:spcPts val="1200"/>
              </a:spcAft>
              <a:defRPr sz="1700"/>
            </a:pPr>
            <a:r>
              <a:t>New asynchronous messaging must define ordering, retry, idempotency and dead-letter behavior.</a:t>
            </a:r>
          </a:p>
          <a:p>
            <a:pPr>
              <a:spcAft>
                <a:spcPts val="1200"/>
              </a:spcAft>
              <a:defRPr sz="1700"/>
            </a:pPr>
            <a:r>
              <a:t>Technology decisions with material security, cost or availability impact require an Architecture Decision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FY26 Architecture Health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42 production services; 11 Tier-1.</a:t>
            </a:r>
          </a:p>
          <a:p>
            <a:pPr>
              <a:spcAft>
                <a:spcPts val="1200"/>
              </a:spcAft>
              <a:defRPr sz="1700"/>
            </a:pPr>
            <a:r>
              <a:t>93% of engineering repositories have CODEOWNERS.</a:t>
            </a:r>
          </a:p>
          <a:p>
            <a:pPr>
              <a:spcAft>
                <a:spcPts val="1200"/>
              </a:spcAft>
              <a:defRPr sz="1700"/>
            </a:pPr>
            <a:r>
              <a:t>82% of Tier-1 services use canary rollout.</a:t>
            </a:r>
          </a:p>
          <a:p>
            <a:pPr>
              <a:spcAft>
                <a:spcPts val="1200"/>
              </a:spcAft>
              <a:defRPr sz="1700"/>
            </a:pPr>
            <a:r>
              <a:t>91% automated smoke-test coverage across production release paths.</a:t>
            </a:r>
          </a:p>
          <a:p>
            <a:pPr>
              <a:spcAft>
                <a:spcPts val="1200"/>
              </a:spcAft>
              <a:defRPr sz="1700"/>
            </a:pPr>
            <a:r>
              <a:t>7.4% FY26 change failure rate; target for FY27 is below 6%.</a:t>
            </a:r>
          </a:p>
          <a:p>
            <a:pPr>
              <a:spcAft>
                <a:spcPts val="1200"/>
              </a:spcAft>
              <a:defRPr sz="1700"/>
            </a:pPr>
            <a:r>
              <a:t>1 critical vulnerability was overdue as of 31 July 2026 and had an active remediation owner.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Document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Document ID: NC-ENG-ARCH-2026-08</a:t>
            </a:r>
          </a:p>
          <a:p>
            <a:pPr>
              <a:spcAft>
                <a:spcPts val="1200"/>
              </a:spcAft>
              <a:defRPr sz="1700"/>
            </a:pPr>
            <a:r>
              <a:t>Version: 2.6</a:t>
            </a:r>
          </a:p>
          <a:p>
            <a:pPr>
              <a:spcAft>
                <a:spcPts val="1200"/>
              </a:spcAft>
              <a:defRPr sz="1700"/>
            </a:pPr>
            <a:r>
              <a:t>Effective: 01 August 2026</a:t>
            </a:r>
          </a:p>
          <a:p>
            <a:pPr>
              <a:spcAft>
                <a:spcPts val="1200"/>
              </a:spcAft>
              <a:defRPr sz="1700"/>
            </a:pPr>
            <a:r>
              <a:t>Owner: Platform Architecture Council</a:t>
            </a:r>
          </a:p>
          <a:p>
            <a:pPr>
              <a:spcAft>
                <a:spcPts val="1200"/>
              </a:spcAft>
              <a:defRPr sz="1700"/>
            </a:pPr>
            <a:r>
              <a:t>Next review: 31 July 2027</a:t>
            </a:r>
          </a:p>
          <a:p>
            <a:pPr>
              <a:spcAft>
                <a:spcPts val="1200"/>
              </a:spcAft>
              <a:defRPr sz="1700"/>
            </a:pPr>
            <a:r>
              <a:t>Classification: Internal /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NexaCore Architecture |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